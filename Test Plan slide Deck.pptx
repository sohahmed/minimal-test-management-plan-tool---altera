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8" r:id="rId3"/>
    <p:sldId id="266" r:id="rId4"/>
    <p:sldId id="274" r:id="rId5"/>
    <p:sldId id="275" r:id="rId6"/>
    <p:sldId id="276" r:id="rId7"/>
    <p:sldId id="277" r:id="rId8"/>
    <p:sldId id="278" r:id="rId9"/>
    <p:sldId id="279" r:id="rId10"/>
    <p:sldId id="273" r:id="rId11"/>
  </p:sldIdLst>
  <p:sldSz cx="18288000" cy="10287000"/>
  <p:notesSz cx="6858000" cy="9144000"/>
  <p:embeddedFontLst>
    <p:embeddedFont>
      <p:font typeface="Playfair Display" panose="00000500000000000000" pitchFamily="2" charset="0"/>
      <p:regular r:id="rId12"/>
      <p:bold r:id="rId13"/>
      <p:italic r:id="rId14"/>
      <p:boldItalic r:id="rId15"/>
    </p:embeddedFont>
    <p:embeddedFont>
      <p:font typeface="Public Sans" panose="020B0604020202020204" charset="0"/>
      <p:regular r:id="rId16"/>
    </p:embeddedFont>
    <p:embeddedFont>
      <p:font typeface="Public Sans Bold" panose="020B0604020202020204" charset="0"/>
      <p:regular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19" autoAdjust="0"/>
    <p:restoredTop sz="94622" autoAdjust="0"/>
  </p:normalViewPr>
  <p:slideViewPr>
    <p:cSldViewPr>
      <p:cViewPr varScale="1">
        <p:scale>
          <a:sx n="72" d="100"/>
          <a:sy n="72" d="100"/>
        </p:scale>
        <p:origin x="690" y="7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font" Target="fonts/font6.fntdata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11/17/2025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s://huggingface.co/openlm-research/open_llama_3b_v2" TargetMode="Externa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E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 flipV="1">
            <a:off x="1028706" y="4514765"/>
            <a:ext cx="16230594" cy="38509"/>
          </a:xfrm>
          <a:prstGeom prst="line">
            <a:avLst/>
          </a:prstGeom>
          <a:ln w="9525" cap="flat">
            <a:solidFill>
              <a:srgbClr val="2B2C3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" name="TextBox 3"/>
          <p:cNvSpPr txBox="1"/>
          <p:nvPr/>
        </p:nvSpPr>
        <p:spPr>
          <a:xfrm>
            <a:off x="1006882" y="4728792"/>
            <a:ext cx="16230600" cy="6095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200"/>
              </a:lnSpc>
              <a:spcBef>
                <a:spcPct val="0"/>
              </a:spcBef>
            </a:pPr>
            <a:r>
              <a:rPr lang="en-US" sz="3714" b="1" spc="843" dirty="0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MINIMAL TEST PLAN MANAGEMENT TOOL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850974" y="2332416"/>
            <a:ext cx="16408332" cy="19620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250"/>
              </a:lnSpc>
            </a:pPr>
            <a:r>
              <a:rPr lang="en-US" sz="16758" spc="83" dirty="0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documentation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16407" y="8479155"/>
            <a:ext cx="7862435" cy="8648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lang="en-US" sz="2300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Soha Ahmed</a:t>
            </a:r>
          </a:p>
          <a:p>
            <a:pPr algn="l">
              <a:lnSpc>
                <a:spcPts val="3450"/>
              </a:lnSpc>
            </a:pPr>
            <a:r>
              <a:rPr lang="en-US" sz="2300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16th November,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E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06871" y="942975"/>
            <a:ext cx="16230600" cy="6095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200"/>
              </a:lnSpc>
              <a:spcBef>
                <a:spcPct val="0"/>
              </a:spcBef>
            </a:pPr>
            <a:r>
              <a:rPr lang="en-US" sz="3714" b="1" spc="843" dirty="0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CORE FUNCTIONALITY</a:t>
            </a:r>
          </a:p>
        </p:txBody>
      </p:sp>
      <p:sp>
        <p:nvSpPr>
          <p:cNvPr id="3" name="AutoShape 3"/>
          <p:cNvSpPr/>
          <p:nvPr/>
        </p:nvSpPr>
        <p:spPr>
          <a:xfrm flipV="1">
            <a:off x="1028695" y="1760761"/>
            <a:ext cx="16230594" cy="38509"/>
          </a:xfrm>
          <a:prstGeom prst="line">
            <a:avLst/>
          </a:prstGeom>
          <a:ln w="9525" cap="flat">
            <a:solidFill>
              <a:srgbClr val="2B2C3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" name="TextBox 4"/>
          <p:cNvSpPr txBox="1"/>
          <p:nvPr/>
        </p:nvSpPr>
        <p:spPr>
          <a:xfrm>
            <a:off x="1028689" y="2122290"/>
            <a:ext cx="16230594" cy="525060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604519" lvl="1" indent="-302260" algn="l">
              <a:lnSpc>
                <a:spcPts val="5235"/>
              </a:lnSpc>
              <a:buFont typeface="Arial"/>
              <a:buChar char="•"/>
            </a:pPr>
            <a:r>
              <a:rPr lang="en-US" sz="2799" dirty="0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Implement a simple feature that suggests test steps based on input document.</a:t>
            </a:r>
          </a:p>
          <a:p>
            <a:pPr marL="604519" lvl="1" indent="-302260" algn="l">
              <a:lnSpc>
                <a:spcPts val="5235"/>
              </a:lnSpc>
              <a:buFont typeface="Arial"/>
              <a:buChar char="•"/>
            </a:pPr>
            <a:r>
              <a:rPr lang="en-US" sz="2799" dirty="0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What can users do with this tool?</a:t>
            </a:r>
          </a:p>
          <a:p>
            <a:pPr marL="1061719" lvl="2" indent="-302260">
              <a:lnSpc>
                <a:spcPts val="5235"/>
              </a:lnSpc>
              <a:buFont typeface="Arial"/>
              <a:buChar char="•"/>
            </a:pPr>
            <a:r>
              <a:rPr lang="en-US" sz="2799" dirty="0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create, </a:t>
            </a:r>
          </a:p>
          <a:p>
            <a:pPr marL="1061719" lvl="2" indent="-302260">
              <a:lnSpc>
                <a:spcPts val="5235"/>
              </a:lnSpc>
              <a:buFont typeface="Arial"/>
              <a:buChar char="•"/>
            </a:pPr>
            <a:r>
              <a:rPr lang="en-US" sz="2799" dirty="0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view, </a:t>
            </a:r>
          </a:p>
          <a:p>
            <a:pPr marL="1061719" lvl="2" indent="-302260">
              <a:lnSpc>
                <a:spcPts val="5235"/>
              </a:lnSpc>
              <a:buFont typeface="Arial"/>
              <a:buChar char="•"/>
            </a:pPr>
            <a:r>
              <a:rPr lang="en-US" sz="2799" dirty="0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edit,</a:t>
            </a:r>
          </a:p>
          <a:p>
            <a:pPr marL="1061719" lvl="2" indent="-302260">
              <a:lnSpc>
                <a:spcPts val="5235"/>
              </a:lnSpc>
              <a:buFont typeface="Arial"/>
              <a:buChar char="•"/>
            </a:pPr>
            <a:r>
              <a:rPr lang="en-US" sz="2799" dirty="0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delete test plans.</a:t>
            </a:r>
          </a:p>
          <a:p>
            <a:pPr marL="604519" lvl="1" indent="-302260" algn="l">
              <a:lnSpc>
                <a:spcPts val="5235"/>
              </a:lnSpc>
              <a:buFont typeface="Arial"/>
              <a:buChar char="•"/>
            </a:pPr>
            <a:r>
              <a:rPr lang="en-US" sz="2799" dirty="0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After a test plan selection, the item will have a title, description, and a list of potential steps.</a:t>
            </a:r>
          </a:p>
          <a:p>
            <a:pPr marL="604519" lvl="1" indent="-302260" algn="l">
              <a:lnSpc>
                <a:spcPts val="5235"/>
              </a:lnSpc>
              <a:buFont typeface="Arial"/>
              <a:buChar char="•"/>
            </a:pPr>
            <a:r>
              <a:rPr lang="en-US" sz="2799" dirty="0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Users can add, edit, and delete individual test steps.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E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6701746" y="8616481"/>
            <a:ext cx="535737" cy="727544"/>
          </a:xfrm>
          <a:custGeom>
            <a:avLst/>
            <a:gdLst/>
            <a:ahLst/>
            <a:cxnLst/>
            <a:rect l="l" t="t" r="r" b="b"/>
            <a:pathLst>
              <a:path w="535737" h="727544">
                <a:moveTo>
                  <a:pt x="0" y="0"/>
                </a:moveTo>
                <a:lnTo>
                  <a:pt x="535736" y="0"/>
                </a:lnTo>
                <a:lnTo>
                  <a:pt x="535736" y="727544"/>
                </a:lnTo>
                <a:lnTo>
                  <a:pt x="0" y="72754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AutoShape 3"/>
          <p:cNvSpPr/>
          <p:nvPr/>
        </p:nvSpPr>
        <p:spPr>
          <a:xfrm flipV="1">
            <a:off x="1028695" y="1760761"/>
            <a:ext cx="16230594" cy="38509"/>
          </a:xfrm>
          <a:prstGeom prst="line">
            <a:avLst/>
          </a:prstGeom>
          <a:ln w="9525" cap="flat">
            <a:solidFill>
              <a:srgbClr val="2B2C3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" name="TextBox 4"/>
          <p:cNvSpPr txBox="1"/>
          <p:nvPr/>
        </p:nvSpPr>
        <p:spPr>
          <a:xfrm>
            <a:off x="14990680" y="8630746"/>
            <a:ext cx="1682491" cy="7132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17"/>
              </a:lnSpc>
            </a:pPr>
            <a:r>
              <a:rPr lang="en-US" sz="2986" spc="14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Ingoude Company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06871" y="942975"/>
            <a:ext cx="16230600" cy="6095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200"/>
              </a:lnSpc>
              <a:spcBef>
                <a:spcPct val="0"/>
              </a:spcBef>
            </a:pPr>
            <a:r>
              <a:rPr lang="en-US" sz="3714" b="1" spc="843" dirty="0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STRUCTURE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1016407" y="2262784"/>
            <a:ext cx="5146395" cy="1961946"/>
            <a:chOff x="0" y="-66675"/>
            <a:chExt cx="6861860" cy="2615931"/>
          </a:xfrm>
        </p:grpSpPr>
        <p:sp>
          <p:nvSpPr>
            <p:cNvPr id="7" name="TextBox 7"/>
            <p:cNvSpPr txBox="1"/>
            <p:nvPr/>
          </p:nvSpPr>
          <p:spPr>
            <a:xfrm>
              <a:off x="0" y="-66675"/>
              <a:ext cx="6861860" cy="63224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919"/>
                </a:lnSpc>
              </a:pPr>
              <a:r>
                <a:rPr lang="en-US" sz="2799" b="1" dirty="0">
                  <a:solidFill>
                    <a:srgbClr val="2B2C30"/>
                  </a:solidFill>
                  <a:latin typeface="Public Sans Bold"/>
                  <a:ea typeface="Public Sans Bold"/>
                  <a:cs typeface="Public Sans Bold"/>
                  <a:sym typeface="Public Sans Bold"/>
                </a:rPr>
                <a:t>Backend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743374"/>
              <a:ext cx="6861860" cy="180588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659"/>
                </a:lnSpc>
              </a:pPr>
              <a:r>
                <a:rPr lang="en-US" sz="1899" dirty="0">
                  <a:solidFill>
                    <a:srgbClr val="2B2C30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Handles API endpoints, file extraction, AI calls.</a:t>
              </a:r>
            </a:p>
            <a:p>
              <a:pPr algn="l">
                <a:lnSpc>
                  <a:spcPts val="2659"/>
                </a:lnSpc>
              </a:pPr>
              <a:r>
                <a:rPr lang="en-US" sz="1899" dirty="0">
                  <a:solidFill>
                    <a:srgbClr val="2B2C30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Programming language: Python</a:t>
              </a:r>
            </a:p>
            <a:p>
              <a:pPr algn="l">
                <a:lnSpc>
                  <a:spcPts val="2659"/>
                </a:lnSpc>
              </a:pPr>
              <a:r>
                <a:rPr lang="en-US" sz="1899" dirty="0">
                  <a:solidFill>
                    <a:srgbClr val="2B2C30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Backend exposes a RESTful API.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6553742" y="2262784"/>
            <a:ext cx="5146395" cy="1961946"/>
            <a:chOff x="0" y="-66675"/>
            <a:chExt cx="6861860" cy="2615927"/>
          </a:xfrm>
        </p:grpSpPr>
        <p:sp>
          <p:nvSpPr>
            <p:cNvPr id="10" name="TextBox 10"/>
            <p:cNvSpPr txBox="1"/>
            <p:nvPr/>
          </p:nvSpPr>
          <p:spPr>
            <a:xfrm>
              <a:off x="0" y="-66675"/>
              <a:ext cx="6861860" cy="63224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919"/>
                </a:lnSpc>
              </a:pPr>
              <a:r>
                <a:rPr lang="en-US" sz="2799" b="1" dirty="0">
                  <a:solidFill>
                    <a:srgbClr val="2B2C30"/>
                  </a:solidFill>
                  <a:latin typeface="Public Sans Bold"/>
                  <a:ea typeface="Public Sans Bold"/>
                  <a:cs typeface="Public Sans Bold"/>
                  <a:sym typeface="Public Sans Bold"/>
                </a:rPr>
                <a:t>Frontend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743373"/>
              <a:ext cx="6861860" cy="180587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659"/>
                </a:lnSpc>
              </a:pPr>
              <a:r>
                <a:rPr lang="en-US" sz="1899" dirty="0">
                  <a:solidFill>
                    <a:srgbClr val="2B2C30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Upload, view, edit, and delete of test plans and steps.</a:t>
              </a:r>
            </a:p>
            <a:p>
              <a:pPr algn="l">
                <a:lnSpc>
                  <a:spcPts val="2659"/>
                </a:lnSpc>
              </a:pPr>
              <a:r>
                <a:rPr lang="en-US" sz="1899" dirty="0">
                  <a:solidFill>
                    <a:srgbClr val="2B2C30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Programming language: HTML/JS</a:t>
              </a:r>
            </a:p>
            <a:p>
              <a:pPr algn="l">
                <a:lnSpc>
                  <a:spcPts val="2659"/>
                </a:lnSpc>
              </a:pPr>
              <a:r>
                <a:rPr lang="en-US" sz="1899" dirty="0">
                  <a:solidFill>
                    <a:srgbClr val="2B2C30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Simple SPA for user input and result display.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2112905" y="2262784"/>
            <a:ext cx="5146395" cy="2308194"/>
            <a:chOff x="0" y="-66675"/>
            <a:chExt cx="6861860" cy="3077591"/>
          </a:xfrm>
        </p:grpSpPr>
        <p:sp>
          <p:nvSpPr>
            <p:cNvPr id="13" name="TextBox 13"/>
            <p:cNvSpPr txBox="1"/>
            <p:nvPr/>
          </p:nvSpPr>
          <p:spPr>
            <a:xfrm>
              <a:off x="0" y="-66675"/>
              <a:ext cx="6861860" cy="63224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919"/>
                </a:lnSpc>
              </a:pPr>
              <a:r>
                <a:rPr lang="en-US" sz="2799" b="1" dirty="0">
                  <a:solidFill>
                    <a:srgbClr val="2B2C30"/>
                  </a:solidFill>
                  <a:latin typeface="Public Sans Bold"/>
                  <a:ea typeface="Public Sans Bold"/>
                  <a:cs typeface="Public Sans Bold"/>
                  <a:sym typeface="Public Sans Bold"/>
                </a:rPr>
                <a:t>AI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743373"/>
              <a:ext cx="6861860" cy="226754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659"/>
                </a:lnSpc>
              </a:pPr>
              <a:r>
                <a:rPr lang="en-US" sz="1899" dirty="0">
                  <a:solidFill>
                    <a:srgbClr val="2B2C30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Processes the requirements and outputs a clean, readable test steps for any test plan.</a:t>
              </a:r>
            </a:p>
            <a:p>
              <a:pPr algn="l">
                <a:lnSpc>
                  <a:spcPts val="2659"/>
                </a:lnSpc>
              </a:pPr>
              <a:r>
                <a:rPr lang="en-US" sz="1899" dirty="0">
                  <a:solidFill>
                    <a:srgbClr val="2B2C30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Model used: Open </a:t>
              </a:r>
              <a:r>
                <a:rPr lang="en-US" sz="1899" dirty="0" err="1">
                  <a:solidFill>
                    <a:srgbClr val="2B2C30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LLaMA</a:t>
              </a:r>
              <a:r>
                <a:rPr lang="en-US" sz="1899" dirty="0">
                  <a:solidFill>
                    <a:srgbClr val="2B2C30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 3B.</a:t>
              </a:r>
            </a:p>
            <a:p>
              <a:pPr algn="l">
                <a:lnSpc>
                  <a:spcPts val="2659"/>
                </a:lnSpc>
              </a:pPr>
              <a:r>
                <a:rPr lang="en-US" sz="1899" dirty="0">
                  <a:solidFill>
                    <a:srgbClr val="2B2C30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The AI generates a description and a checklist of potential steps.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EE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66F42A2-2D88-E721-2CB9-A3BF75378C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318B0435-1859-C226-AE14-3B5034695609}"/>
              </a:ext>
            </a:extLst>
          </p:cNvPr>
          <p:cNvSpPr txBox="1"/>
          <p:nvPr/>
        </p:nvSpPr>
        <p:spPr>
          <a:xfrm>
            <a:off x="1006871" y="942975"/>
            <a:ext cx="16230600" cy="6095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200"/>
              </a:lnSpc>
              <a:spcBef>
                <a:spcPct val="0"/>
              </a:spcBef>
            </a:pPr>
            <a:r>
              <a:rPr lang="en-US" sz="3714" b="1" spc="843" dirty="0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KEY FEATURES</a:t>
            </a:r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3B601D3A-1F5F-DF85-0E7F-CEF094B6232A}"/>
              </a:ext>
            </a:extLst>
          </p:cNvPr>
          <p:cNvSpPr/>
          <p:nvPr/>
        </p:nvSpPr>
        <p:spPr>
          <a:xfrm flipV="1">
            <a:off x="1028695" y="1760761"/>
            <a:ext cx="16230594" cy="38509"/>
          </a:xfrm>
          <a:prstGeom prst="line">
            <a:avLst/>
          </a:prstGeom>
          <a:ln w="9525" cap="flat">
            <a:solidFill>
              <a:srgbClr val="2B2C3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6B8CE2F5-DC24-6226-4D3F-EABAAABBD6ED}"/>
              </a:ext>
            </a:extLst>
          </p:cNvPr>
          <p:cNvSpPr txBox="1"/>
          <p:nvPr/>
        </p:nvSpPr>
        <p:spPr>
          <a:xfrm>
            <a:off x="1028689" y="2122290"/>
            <a:ext cx="16230594" cy="458375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604519" lvl="1" indent="-302260" algn="l">
              <a:lnSpc>
                <a:spcPts val="5235"/>
              </a:lnSpc>
              <a:buFont typeface="Arial"/>
              <a:buChar char="•"/>
            </a:pPr>
            <a:r>
              <a:rPr lang="en-US" sz="2799" b="1" dirty="0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File Upload: </a:t>
            </a:r>
            <a:r>
              <a:rPr lang="en-US" sz="2799" dirty="0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Handles requirements in .txt, .pdf, .docx</a:t>
            </a:r>
          </a:p>
          <a:p>
            <a:pPr marL="604519" lvl="1" indent="-302260" algn="l">
              <a:lnSpc>
                <a:spcPts val="5235"/>
              </a:lnSpc>
              <a:buFont typeface="Arial"/>
              <a:buChar char="•"/>
            </a:pPr>
            <a:r>
              <a:rPr lang="en-US" sz="2799" b="1" dirty="0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AI assisted Plan Creation:</a:t>
            </a:r>
          </a:p>
          <a:p>
            <a:pPr marL="1061719" lvl="2" indent="-302260">
              <a:lnSpc>
                <a:spcPts val="5235"/>
              </a:lnSpc>
              <a:buFont typeface="Arial"/>
              <a:buChar char="•"/>
            </a:pPr>
            <a:r>
              <a:rPr lang="en-US" sz="2799" dirty="0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Title and description summarized from the requirement text.</a:t>
            </a:r>
          </a:p>
          <a:p>
            <a:pPr marL="1061719" lvl="2" indent="-302260">
              <a:lnSpc>
                <a:spcPts val="5235"/>
              </a:lnSpc>
              <a:buFont typeface="Arial"/>
              <a:buChar char="•"/>
            </a:pPr>
            <a:r>
              <a:rPr lang="en-US" sz="2799" dirty="0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Steps given by the AI model which can be edited/deleted.</a:t>
            </a:r>
          </a:p>
          <a:p>
            <a:pPr marL="604519" lvl="1" indent="-302260" algn="l">
              <a:lnSpc>
                <a:spcPts val="5235"/>
              </a:lnSpc>
              <a:buFont typeface="Arial"/>
              <a:buChar char="•"/>
            </a:pPr>
            <a:r>
              <a:rPr lang="en-US" sz="2799" b="1" dirty="0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Test Plan Management:</a:t>
            </a:r>
          </a:p>
          <a:p>
            <a:pPr marL="1061719" lvl="2" indent="-302260">
              <a:lnSpc>
                <a:spcPts val="5235"/>
              </a:lnSpc>
              <a:buFont typeface="Arial"/>
              <a:buChar char="•"/>
            </a:pPr>
            <a:r>
              <a:rPr lang="en-US" sz="2799" dirty="0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CRUD for plans and steps (create, view, edit, delete).</a:t>
            </a:r>
          </a:p>
          <a:p>
            <a:pPr marL="1061719" lvl="2" indent="-302260">
              <a:lnSpc>
                <a:spcPts val="5235"/>
              </a:lnSpc>
              <a:buFont typeface="Arial"/>
              <a:buChar char="•"/>
            </a:pPr>
            <a:r>
              <a:rPr lang="en-US" sz="2799" dirty="0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Steps can be manually added/edited after AI suggestion.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052ABA6-65F1-D05B-EBA8-40031702D9B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21636" y="2368995"/>
            <a:ext cx="5015835" cy="40549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068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EE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F386973-E244-91B9-2684-FB29A56334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85FCDACE-8423-42FE-5526-CBC5EFA60EDD}"/>
              </a:ext>
            </a:extLst>
          </p:cNvPr>
          <p:cNvSpPr txBox="1"/>
          <p:nvPr/>
        </p:nvSpPr>
        <p:spPr>
          <a:xfrm>
            <a:off x="1006871" y="942975"/>
            <a:ext cx="16230600" cy="6095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200"/>
              </a:lnSpc>
              <a:spcBef>
                <a:spcPct val="0"/>
              </a:spcBef>
            </a:pPr>
            <a:r>
              <a:rPr lang="en-US" sz="3714" b="1" spc="843" dirty="0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GENERATIVE AI DIVE-IN</a:t>
            </a:r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703A6795-6FED-FD68-F0C5-8DC86772EA96}"/>
              </a:ext>
            </a:extLst>
          </p:cNvPr>
          <p:cNvSpPr/>
          <p:nvPr/>
        </p:nvSpPr>
        <p:spPr>
          <a:xfrm flipV="1">
            <a:off x="1028695" y="1760761"/>
            <a:ext cx="16230594" cy="38509"/>
          </a:xfrm>
          <a:prstGeom prst="line">
            <a:avLst/>
          </a:prstGeom>
          <a:ln w="9525" cap="flat">
            <a:solidFill>
              <a:srgbClr val="2B2C3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EA35C8C2-649A-B8E8-0C02-A164830CC2EC}"/>
              </a:ext>
            </a:extLst>
          </p:cNvPr>
          <p:cNvSpPr txBox="1"/>
          <p:nvPr/>
        </p:nvSpPr>
        <p:spPr>
          <a:xfrm>
            <a:off x="1028689" y="2122290"/>
            <a:ext cx="16230594" cy="391690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604519" lvl="1" indent="-302260">
              <a:lnSpc>
                <a:spcPts val="5235"/>
              </a:lnSpc>
              <a:buFont typeface="Arial"/>
              <a:buChar char="•"/>
            </a:pPr>
            <a:r>
              <a:rPr lang="en-US" sz="2799" b="1" dirty="0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Model Used: </a:t>
            </a:r>
            <a:r>
              <a:rPr lang="en-US" sz="2799" dirty="0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  <a:hlinkClick r:id="rId2"/>
              </a:rPr>
              <a:t>https://huggingface.co/openlm-research/open_llama_3b_v2</a:t>
            </a:r>
            <a:endParaRPr lang="en-US" sz="2799" dirty="0">
              <a:solidFill>
                <a:srgbClr val="2B2C30"/>
              </a:solidFill>
              <a:latin typeface="Public Sans"/>
              <a:ea typeface="Public Sans"/>
              <a:cs typeface="Public Sans"/>
              <a:sym typeface="Public Sans"/>
            </a:endParaRPr>
          </a:p>
          <a:p>
            <a:pPr marL="1061719" lvl="2" indent="-302260">
              <a:lnSpc>
                <a:spcPts val="5235"/>
              </a:lnSpc>
              <a:buFont typeface="Arial"/>
              <a:buChar char="•"/>
            </a:pPr>
            <a:r>
              <a:rPr lang="en-US" sz="2799" dirty="0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Hosted by </a:t>
            </a:r>
            <a:r>
              <a:rPr lang="en-US" sz="2799" dirty="0" err="1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HuggingFace</a:t>
            </a:r>
            <a:r>
              <a:rPr lang="en-US" sz="2799" dirty="0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 Transformers.</a:t>
            </a:r>
          </a:p>
          <a:p>
            <a:pPr marL="1061719" lvl="2" indent="-302260">
              <a:lnSpc>
                <a:spcPts val="5235"/>
              </a:lnSpc>
              <a:buFont typeface="Arial"/>
              <a:buChar char="•"/>
            </a:pPr>
            <a:r>
              <a:rPr lang="en-US" sz="2799" dirty="0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Prompt-tuned for checklist output.</a:t>
            </a:r>
          </a:p>
          <a:p>
            <a:pPr marL="604519" lvl="1" indent="-302260" algn="l">
              <a:lnSpc>
                <a:spcPts val="5235"/>
              </a:lnSpc>
              <a:buFont typeface="Arial"/>
              <a:buChar char="•"/>
            </a:pPr>
            <a:r>
              <a:rPr lang="en-US" sz="2799" b="1" dirty="0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Prompt Engineering: </a:t>
            </a:r>
            <a:r>
              <a:rPr lang="en-US" sz="2799" dirty="0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Model was instructed to summarize requirement as “Test Steps” list.</a:t>
            </a:r>
          </a:p>
          <a:p>
            <a:pPr marL="604519" lvl="1" indent="-302260" algn="l">
              <a:lnSpc>
                <a:spcPts val="5235"/>
              </a:lnSpc>
              <a:buFont typeface="Arial"/>
              <a:buChar char="•"/>
            </a:pPr>
            <a:r>
              <a:rPr lang="en-US" sz="2799" b="1" dirty="0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Examples used to fine tune:</a:t>
            </a:r>
          </a:p>
          <a:p>
            <a:pPr marL="1061719" lvl="2" indent="-302260">
              <a:lnSpc>
                <a:spcPts val="5235"/>
              </a:lnSpc>
              <a:buFont typeface="Arial"/>
              <a:buChar char="•"/>
            </a:pPr>
            <a:r>
              <a:rPr lang="en-US" sz="2799" dirty="0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Login, password, reset, file upload, OTA update, </a:t>
            </a:r>
            <a:r>
              <a:rPr lang="en-US" sz="2799" dirty="0" err="1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etc</a:t>
            </a:r>
            <a:endParaRPr lang="en-US" sz="2799" dirty="0">
              <a:solidFill>
                <a:srgbClr val="2B2C30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</p:spTree>
    <p:extLst>
      <p:ext uri="{BB962C8B-B14F-4D97-AF65-F5344CB8AC3E}">
        <p14:creationId xmlns:p14="http://schemas.microsoft.com/office/powerpoint/2010/main" val="7180277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EE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EBB117B-6F00-243F-FC04-82443EA013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58CB1ACA-4E6C-7485-482B-0AB58834B8DA}"/>
              </a:ext>
            </a:extLst>
          </p:cNvPr>
          <p:cNvSpPr txBox="1"/>
          <p:nvPr/>
        </p:nvSpPr>
        <p:spPr>
          <a:xfrm>
            <a:off x="1006871" y="942975"/>
            <a:ext cx="16230600" cy="6095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200"/>
              </a:lnSpc>
              <a:spcBef>
                <a:spcPct val="0"/>
              </a:spcBef>
            </a:pPr>
            <a:r>
              <a:rPr lang="en-US" sz="3714" b="1" spc="843" dirty="0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HOW TO RUN THE APPLICATION</a:t>
            </a:r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EEAAC422-D01C-2B92-5D1D-FE73FB181EA4}"/>
              </a:ext>
            </a:extLst>
          </p:cNvPr>
          <p:cNvSpPr/>
          <p:nvPr/>
        </p:nvSpPr>
        <p:spPr>
          <a:xfrm flipV="1">
            <a:off x="1028695" y="1760761"/>
            <a:ext cx="16230594" cy="38509"/>
          </a:xfrm>
          <a:prstGeom prst="line">
            <a:avLst/>
          </a:prstGeom>
          <a:ln w="9525" cap="flat">
            <a:solidFill>
              <a:srgbClr val="2B2C3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A363C9FF-5EBA-C675-ECE5-4F5D707E65C6}"/>
              </a:ext>
            </a:extLst>
          </p:cNvPr>
          <p:cNvSpPr txBox="1"/>
          <p:nvPr/>
        </p:nvSpPr>
        <p:spPr>
          <a:xfrm>
            <a:off x="1028689" y="2122290"/>
            <a:ext cx="16230594" cy="458375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604519" lvl="1" indent="-302260">
              <a:lnSpc>
                <a:spcPts val="5235"/>
              </a:lnSpc>
              <a:buFont typeface="Arial"/>
              <a:buChar char="•"/>
            </a:pPr>
            <a:r>
              <a:rPr lang="en-US" sz="2799" b="1" dirty="0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Install Dependencies:</a:t>
            </a:r>
            <a:endParaRPr lang="en-US" sz="2799" dirty="0">
              <a:solidFill>
                <a:srgbClr val="2B2C30"/>
              </a:solidFill>
              <a:latin typeface="Public Sans"/>
              <a:ea typeface="Public Sans"/>
              <a:cs typeface="Public Sans"/>
              <a:sym typeface="Public Sans"/>
            </a:endParaRPr>
          </a:p>
          <a:p>
            <a:pPr marL="1061719" lvl="2" indent="-302260">
              <a:lnSpc>
                <a:spcPts val="5235"/>
              </a:lnSpc>
              <a:buFont typeface="Arial"/>
              <a:buChar char="•"/>
            </a:pPr>
            <a:r>
              <a:rPr lang="en-IN" dirty="0">
                <a:solidFill>
                  <a:srgbClr val="2B2C3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pip install </a:t>
            </a:r>
            <a:r>
              <a:rPr lang="en-IN" dirty="0" err="1">
                <a:solidFill>
                  <a:srgbClr val="2B2C3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fastapi</a:t>
            </a:r>
            <a:r>
              <a:rPr lang="en-IN" dirty="0">
                <a:solidFill>
                  <a:srgbClr val="2B2C3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IN" dirty="0" err="1">
                <a:solidFill>
                  <a:srgbClr val="2B2C3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uvicorn</a:t>
            </a:r>
            <a:r>
              <a:rPr lang="en-IN" dirty="0">
                <a:solidFill>
                  <a:srgbClr val="2B2C3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python-multipart python-docx PyPDF2 transformers </a:t>
            </a:r>
            <a:r>
              <a:rPr lang="en-IN" dirty="0" err="1">
                <a:solidFill>
                  <a:srgbClr val="2B2C3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sentencepiece</a:t>
            </a:r>
            <a:endParaRPr lang="en-US" sz="2799" dirty="0">
              <a:solidFill>
                <a:srgbClr val="2B2C30"/>
              </a:solidFill>
              <a:latin typeface="Public Sans"/>
              <a:ea typeface="Public Sans"/>
              <a:cs typeface="Public Sans"/>
              <a:sym typeface="Public Sans"/>
            </a:endParaRPr>
          </a:p>
          <a:p>
            <a:pPr marL="604519" lvl="1" indent="-302260" algn="l">
              <a:lnSpc>
                <a:spcPts val="5235"/>
              </a:lnSpc>
              <a:buFont typeface="Arial"/>
              <a:buChar char="•"/>
            </a:pPr>
            <a:r>
              <a:rPr lang="en-US" sz="2799" b="1" dirty="0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Start Backend: </a:t>
            </a:r>
          </a:p>
          <a:p>
            <a:pPr marL="1061719" lvl="2" indent="-302260">
              <a:lnSpc>
                <a:spcPts val="5235"/>
              </a:lnSpc>
              <a:buFont typeface="Arial"/>
              <a:buChar char="•"/>
            </a:pPr>
            <a:r>
              <a:rPr lang="en-IN" dirty="0" err="1">
                <a:solidFill>
                  <a:srgbClr val="2B2C3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uvicorn</a:t>
            </a:r>
            <a:r>
              <a:rPr lang="en-IN" dirty="0">
                <a:solidFill>
                  <a:srgbClr val="2B2C3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IN" dirty="0" err="1">
                <a:solidFill>
                  <a:srgbClr val="2B2C3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main:app</a:t>
            </a:r>
            <a:r>
              <a:rPr lang="en-IN" dirty="0">
                <a:solidFill>
                  <a:srgbClr val="2B2C3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--reload</a:t>
            </a:r>
            <a:endParaRPr lang="en-US" dirty="0">
              <a:solidFill>
                <a:srgbClr val="2B2C30"/>
              </a:solidFill>
              <a:latin typeface="Courier New" panose="02070309020205020404" pitchFamily="49" charset="0"/>
              <a:cs typeface="Courier New" panose="02070309020205020404" pitchFamily="49" charset="0"/>
              <a:sym typeface="Public Sans"/>
            </a:endParaRPr>
          </a:p>
          <a:p>
            <a:pPr marL="1061719" lvl="2" indent="-302260">
              <a:lnSpc>
                <a:spcPts val="5235"/>
              </a:lnSpc>
              <a:buFont typeface="Arial"/>
              <a:buChar char="•"/>
            </a:pPr>
            <a:r>
              <a:rPr lang="en-US" sz="2799" dirty="0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First run will download </a:t>
            </a:r>
            <a:r>
              <a:rPr lang="en-US" sz="2799" dirty="0" err="1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OpenLLaMA</a:t>
            </a:r>
            <a:r>
              <a:rPr lang="en-US" sz="2799" dirty="0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– requires several GB and a few minutes.</a:t>
            </a:r>
          </a:p>
          <a:p>
            <a:pPr marL="604519" lvl="1" indent="-302260" algn="l">
              <a:lnSpc>
                <a:spcPts val="5235"/>
              </a:lnSpc>
              <a:buFont typeface="Arial"/>
              <a:buChar char="•"/>
            </a:pPr>
            <a:r>
              <a:rPr lang="en-US" sz="2799" b="1" dirty="0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Open Frontend:</a:t>
            </a:r>
          </a:p>
          <a:p>
            <a:pPr marL="1061719" lvl="2" indent="-302260">
              <a:lnSpc>
                <a:spcPts val="5235"/>
              </a:lnSpc>
              <a:buFont typeface="Arial"/>
              <a:buChar char="•"/>
            </a:pPr>
            <a:r>
              <a:rPr lang="en-US" sz="2799" dirty="0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Double click or open </a:t>
            </a:r>
            <a:r>
              <a:rPr lang="en-US" sz="2800" dirty="0">
                <a:solidFill>
                  <a:srgbClr val="2B2C30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Public Sans"/>
              </a:rPr>
              <a:t>index.html </a:t>
            </a:r>
            <a:r>
              <a:rPr lang="en-US" sz="2799" dirty="0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in your browser.</a:t>
            </a:r>
          </a:p>
        </p:txBody>
      </p:sp>
    </p:spTree>
    <p:extLst>
      <p:ext uri="{BB962C8B-B14F-4D97-AF65-F5344CB8AC3E}">
        <p14:creationId xmlns:p14="http://schemas.microsoft.com/office/powerpoint/2010/main" val="15157345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EE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968105B-8A32-D7E9-C572-C6A5E490B2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3E6DD367-43A1-E309-EEEA-7B6021CFE1F4}"/>
              </a:ext>
            </a:extLst>
          </p:cNvPr>
          <p:cNvSpPr txBox="1"/>
          <p:nvPr/>
        </p:nvSpPr>
        <p:spPr>
          <a:xfrm>
            <a:off x="1006871" y="942975"/>
            <a:ext cx="16230600" cy="6095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200"/>
              </a:lnSpc>
              <a:spcBef>
                <a:spcPct val="0"/>
              </a:spcBef>
            </a:pPr>
            <a:r>
              <a:rPr lang="en-US" sz="3714" b="1" spc="843" dirty="0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HOW TO INTERACT</a:t>
            </a:r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8CF5AA76-89B6-3FE6-977A-B2F901E830F4}"/>
              </a:ext>
            </a:extLst>
          </p:cNvPr>
          <p:cNvSpPr/>
          <p:nvPr/>
        </p:nvSpPr>
        <p:spPr>
          <a:xfrm flipV="1">
            <a:off x="1028695" y="1760761"/>
            <a:ext cx="16230594" cy="38509"/>
          </a:xfrm>
          <a:prstGeom prst="line">
            <a:avLst/>
          </a:prstGeom>
          <a:ln w="9525" cap="flat">
            <a:solidFill>
              <a:srgbClr val="2B2C3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3DA63356-AAC9-9B0E-35EC-C7E276CA58E3}"/>
              </a:ext>
            </a:extLst>
          </p:cNvPr>
          <p:cNvSpPr txBox="1"/>
          <p:nvPr/>
        </p:nvSpPr>
        <p:spPr>
          <a:xfrm>
            <a:off x="1028689" y="2122290"/>
            <a:ext cx="16230594" cy="258320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604519" lvl="1" indent="-302260">
              <a:lnSpc>
                <a:spcPts val="5235"/>
              </a:lnSpc>
              <a:buFont typeface="Arial"/>
              <a:buChar char="•"/>
            </a:pPr>
            <a:r>
              <a:rPr lang="en-US" sz="2799" dirty="0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Click “+” to upload the file that contains the test plan.</a:t>
            </a:r>
          </a:p>
          <a:p>
            <a:pPr marL="604519" lvl="1" indent="-302260">
              <a:lnSpc>
                <a:spcPts val="5235"/>
              </a:lnSpc>
              <a:buFont typeface="Arial"/>
              <a:buChar char="•"/>
            </a:pPr>
            <a:r>
              <a:rPr lang="en-US" sz="2799" dirty="0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AI then generates a title, description and test steps.</a:t>
            </a:r>
          </a:p>
          <a:p>
            <a:pPr marL="604519" lvl="1" indent="-302260">
              <a:lnSpc>
                <a:spcPts val="5235"/>
              </a:lnSpc>
              <a:buFont typeface="Arial"/>
              <a:buChar char="•"/>
            </a:pPr>
            <a:r>
              <a:rPr lang="en-US" sz="2799" dirty="0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Click plan in sidebar to see/edit steps.</a:t>
            </a:r>
          </a:p>
          <a:p>
            <a:pPr marL="604519" lvl="1" indent="-302260">
              <a:lnSpc>
                <a:spcPts val="5235"/>
              </a:lnSpc>
              <a:buFont typeface="Arial"/>
              <a:buChar char="•"/>
            </a:pPr>
            <a:endParaRPr lang="en-US" sz="2799" dirty="0">
              <a:solidFill>
                <a:srgbClr val="2B2C30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</p:spTree>
    <p:extLst>
      <p:ext uri="{BB962C8B-B14F-4D97-AF65-F5344CB8AC3E}">
        <p14:creationId xmlns:p14="http://schemas.microsoft.com/office/powerpoint/2010/main" val="3304060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EE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0502FCA-D1BB-F3F6-F11C-138D9560FF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35248CC5-C1F2-16CE-19A2-766F54930A67}"/>
              </a:ext>
            </a:extLst>
          </p:cNvPr>
          <p:cNvSpPr txBox="1"/>
          <p:nvPr/>
        </p:nvSpPr>
        <p:spPr>
          <a:xfrm>
            <a:off x="1006871" y="942975"/>
            <a:ext cx="16230600" cy="6095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200"/>
              </a:lnSpc>
              <a:spcBef>
                <a:spcPct val="0"/>
              </a:spcBef>
            </a:pPr>
            <a:r>
              <a:rPr lang="en-US" sz="3714" b="1" spc="843" dirty="0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LIMITATIONS/ASSISTANCE</a:t>
            </a:r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6CA61D48-5F1A-1578-7653-E2AA812115D2}"/>
              </a:ext>
            </a:extLst>
          </p:cNvPr>
          <p:cNvSpPr/>
          <p:nvPr/>
        </p:nvSpPr>
        <p:spPr>
          <a:xfrm flipV="1">
            <a:off x="1028695" y="1760761"/>
            <a:ext cx="16230594" cy="38509"/>
          </a:xfrm>
          <a:prstGeom prst="line">
            <a:avLst/>
          </a:prstGeom>
          <a:ln w="9525" cap="flat">
            <a:solidFill>
              <a:srgbClr val="2B2C3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AE7531BB-9D43-665D-755A-06703FB592CD}"/>
              </a:ext>
            </a:extLst>
          </p:cNvPr>
          <p:cNvSpPr txBox="1"/>
          <p:nvPr/>
        </p:nvSpPr>
        <p:spPr>
          <a:xfrm>
            <a:off x="1028689" y="2122290"/>
            <a:ext cx="16230594" cy="325005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604519" lvl="1" indent="-302260">
              <a:lnSpc>
                <a:spcPts val="5235"/>
              </a:lnSpc>
              <a:buFont typeface="Arial"/>
              <a:buChar char="•"/>
            </a:pPr>
            <a:r>
              <a:rPr lang="en-US" sz="2799" dirty="0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Llama models not fine tuned for software QA, but prompt engineering gets strong results.</a:t>
            </a:r>
          </a:p>
          <a:p>
            <a:pPr marL="604519" lvl="1" indent="-302260">
              <a:lnSpc>
                <a:spcPts val="5235"/>
              </a:lnSpc>
              <a:buFont typeface="Arial"/>
              <a:buChar char="•"/>
            </a:pPr>
            <a:r>
              <a:rPr lang="en-US" sz="2799" dirty="0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Results depend on AI model and length/detail of requirements.</a:t>
            </a:r>
          </a:p>
          <a:p>
            <a:pPr marL="604519" lvl="1" indent="-302260">
              <a:lnSpc>
                <a:spcPts val="5235"/>
              </a:lnSpc>
              <a:buFont typeface="Arial"/>
              <a:buChar char="•"/>
            </a:pPr>
            <a:r>
              <a:rPr lang="en-US" sz="2799" dirty="0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Assignment code structure and AI prompt logic used generative tools (ChatGPT, </a:t>
            </a:r>
            <a:r>
              <a:rPr lang="en-US" sz="2799" dirty="0" err="1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HuggingFace</a:t>
            </a:r>
            <a:r>
              <a:rPr lang="en-US" sz="2799" dirty="0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 docs) and were adapted/customized as described.</a:t>
            </a:r>
          </a:p>
          <a:p>
            <a:pPr marL="604519" lvl="1" indent="-302260">
              <a:lnSpc>
                <a:spcPts val="5235"/>
              </a:lnSpc>
              <a:buFont typeface="Arial"/>
              <a:buChar char="•"/>
            </a:pPr>
            <a:r>
              <a:rPr lang="en-US" sz="2799" dirty="0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Prompt engineering and pipeline design assisted by Perplexity AI / ChatGPT suggestions.</a:t>
            </a:r>
          </a:p>
        </p:txBody>
      </p:sp>
    </p:spTree>
    <p:extLst>
      <p:ext uri="{BB962C8B-B14F-4D97-AF65-F5344CB8AC3E}">
        <p14:creationId xmlns:p14="http://schemas.microsoft.com/office/powerpoint/2010/main" val="28007050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EE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7BA859F-7BE4-ED4F-BA1F-2170D4DEAB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03D6EA67-65E6-8A37-90F8-D1AC990EBA67}"/>
              </a:ext>
            </a:extLst>
          </p:cNvPr>
          <p:cNvSpPr txBox="1"/>
          <p:nvPr/>
        </p:nvSpPr>
        <p:spPr>
          <a:xfrm>
            <a:off x="1006871" y="942975"/>
            <a:ext cx="16230600" cy="6095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200"/>
              </a:lnSpc>
              <a:spcBef>
                <a:spcPct val="0"/>
              </a:spcBef>
            </a:pPr>
            <a:r>
              <a:rPr lang="en-US" sz="3714" b="1" spc="843" dirty="0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NEST STEPS &amp; IMPROVEMENT</a:t>
            </a:r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5B4B26D4-2FEE-A1AD-748D-E2233DC2B21B}"/>
              </a:ext>
            </a:extLst>
          </p:cNvPr>
          <p:cNvSpPr/>
          <p:nvPr/>
        </p:nvSpPr>
        <p:spPr>
          <a:xfrm flipV="1">
            <a:off x="1028695" y="1760761"/>
            <a:ext cx="16230594" cy="38509"/>
          </a:xfrm>
          <a:prstGeom prst="line">
            <a:avLst/>
          </a:prstGeom>
          <a:ln w="9525" cap="flat">
            <a:solidFill>
              <a:srgbClr val="2B2C3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7B20EEED-D26D-EAD6-1756-2CDCA169F4E0}"/>
              </a:ext>
            </a:extLst>
          </p:cNvPr>
          <p:cNvSpPr txBox="1"/>
          <p:nvPr/>
        </p:nvSpPr>
        <p:spPr>
          <a:xfrm>
            <a:off x="1028689" y="2122290"/>
            <a:ext cx="16230594" cy="325005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604519" lvl="1" indent="-302260">
              <a:lnSpc>
                <a:spcPts val="5235"/>
              </a:lnSpc>
              <a:buFont typeface="Arial"/>
              <a:buChar char="•"/>
            </a:pPr>
            <a:r>
              <a:rPr lang="en-US" sz="2799" dirty="0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Add persistent storage/database</a:t>
            </a:r>
          </a:p>
          <a:p>
            <a:pPr marL="604519" lvl="1" indent="-302260">
              <a:lnSpc>
                <a:spcPts val="5235"/>
              </a:lnSpc>
              <a:buFont typeface="Arial"/>
              <a:buChar char="•"/>
            </a:pPr>
            <a:r>
              <a:rPr lang="en-US" sz="2799" dirty="0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Fine-tune AI on internal test specifications for higher accuracy</a:t>
            </a:r>
          </a:p>
          <a:p>
            <a:pPr marL="604519" lvl="1" indent="-302260">
              <a:lnSpc>
                <a:spcPts val="5235"/>
              </a:lnSpc>
              <a:buFont typeface="Arial"/>
              <a:buChar char="•"/>
            </a:pPr>
            <a:r>
              <a:rPr lang="en-US" sz="2799" dirty="0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Deploy on cloud</a:t>
            </a:r>
          </a:p>
          <a:p>
            <a:pPr marL="604519" lvl="1" indent="-302260">
              <a:lnSpc>
                <a:spcPts val="5235"/>
              </a:lnSpc>
              <a:buFont typeface="Arial"/>
              <a:buChar char="•"/>
            </a:pPr>
            <a:r>
              <a:rPr lang="en-US" sz="2799" dirty="0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Add user authentication, permissions</a:t>
            </a:r>
          </a:p>
          <a:p>
            <a:pPr marL="604519" lvl="1" indent="-302260">
              <a:lnSpc>
                <a:spcPts val="5235"/>
              </a:lnSpc>
              <a:buFont typeface="Arial"/>
              <a:buChar char="•"/>
            </a:pPr>
            <a:r>
              <a:rPr lang="en-US" sz="2799" dirty="0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Make UI more presentable/user friendly/pleasing to the eye.</a:t>
            </a:r>
          </a:p>
        </p:txBody>
      </p:sp>
    </p:spTree>
    <p:extLst>
      <p:ext uri="{BB962C8B-B14F-4D97-AF65-F5344CB8AC3E}">
        <p14:creationId xmlns:p14="http://schemas.microsoft.com/office/powerpoint/2010/main" val="20476868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E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 flipV="1">
            <a:off x="1028706" y="4514765"/>
            <a:ext cx="16230594" cy="38509"/>
          </a:xfrm>
          <a:prstGeom prst="line">
            <a:avLst/>
          </a:prstGeom>
          <a:ln w="9525" cap="flat">
            <a:solidFill>
              <a:srgbClr val="2B2C3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" name="TextBox 4"/>
          <p:cNvSpPr txBox="1"/>
          <p:nvPr/>
        </p:nvSpPr>
        <p:spPr>
          <a:xfrm>
            <a:off x="1006882" y="4728792"/>
            <a:ext cx="16230600" cy="6510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200"/>
              </a:lnSpc>
              <a:spcBef>
                <a:spcPct val="0"/>
              </a:spcBef>
            </a:pPr>
            <a:r>
              <a:rPr lang="en-US" sz="3714" b="1" spc="843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NEW BUSINESS OPPORTUNITY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850974" y="2332416"/>
            <a:ext cx="16408332" cy="20840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250"/>
              </a:lnSpc>
            </a:pPr>
            <a:r>
              <a:rPr lang="en-US" sz="16758" spc="83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Thank you!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16407" y="8041005"/>
            <a:ext cx="7862435" cy="8532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lang="en-US" sz="2300" dirty="0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Soha Ahmed</a:t>
            </a:r>
          </a:p>
          <a:p>
            <a:pPr algn="l">
              <a:lnSpc>
                <a:spcPts val="3450"/>
              </a:lnSpc>
            </a:pPr>
            <a:r>
              <a:rPr lang="en-US" sz="2300" dirty="0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reachsohahmed@gmail.com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1188</TotalTime>
  <Words>517</Words>
  <Application>Microsoft Office PowerPoint</Application>
  <PresentationFormat>Custom</PresentationFormat>
  <Paragraphs>69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Public Sans</vt:lpstr>
      <vt:lpstr>Calibri</vt:lpstr>
      <vt:lpstr>Arial</vt:lpstr>
      <vt:lpstr>Playfair Display</vt:lpstr>
      <vt:lpstr>Public Sans Bold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Pitch Deck</dc:title>
  <dc:creator>Arshiya Ahmed</dc:creator>
  <cp:lastModifiedBy>Arshiya Ahmed</cp:lastModifiedBy>
  <cp:revision>3</cp:revision>
  <dcterms:created xsi:type="dcterms:W3CDTF">2006-08-16T00:00:00Z</dcterms:created>
  <dcterms:modified xsi:type="dcterms:W3CDTF">2025-11-18T21:57:03Z</dcterms:modified>
  <dc:identifier>DAG47OnXyAU</dc:identifier>
</cp:coreProperties>
</file>